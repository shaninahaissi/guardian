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AE9F"/>
                </a:solidFill>
                <a:latin typeface="Calibri"/>
              </a:rPr>
              <a:t>GUARDIAN — Threat Detection for CCTV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Architecture &amp; Results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Overview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B9C4D3"/>
                </a:solidFill>
                <a:latin typeface="Calibri"/>
              </a:rPr>
              <a:t>How it works, how it was trained, and what it achieves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685"/>
                </a:solidFill>
                <a:latin typeface="Calibri"/>
              </a:rPr>
              <a:t>10-15 minute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AE9F"/>
                </a:solidFill>
                <a:latin typeface="Calibri"/>
              </a:rP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GUARDIAN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GUARDIAN — Overview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6539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5207" y="1920240"/>
            <a:ext cx="3108960" cy="192024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647" y="2057400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2367" y="269748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DBE2EB"/>
                </a:solidFill>
                <a:latin typeface="Calibri"/>
              </a:rPr>
              <a:t>Live camera feeds analyzed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DBE2EB"/>
                </a:solidFill>
                <a:latin typeface="Calibri"/>
              </a:rPr>
              <a:t>continuously, frame by frame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1599" y="2880360"/>
            <a:ext cx="40233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41367" y="1920240"/>
            <a:ext cx="3108960" cy="192024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2807" y="2057400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527" y="269748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DBE2EB"/>
                </a:solidFill>
                <a:latin typeface="Calibri"/>
              </a:rPr>
              <a:t>Weapons AND threatening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DBE2EB"/>
                </a:solidFill>
                <a:latin typeface="Calibri"/>
              </a:rPr>
              <a:t>behavior — not one alone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77759" y="2880360"/>
            <a:ext cx="40233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07527" y="1920240"/>
            <a:ext cx="3108960" cy="192024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8967" y="2057400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687" y="269748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DBE2EB"/>
                </a:solidFill>
                <a:latin typeface="Calibri"/>
              </a:rPr>
              <a:t>Immediate notification the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DBE2EB"/>
                </a:solidFill>
                <a:latin typeface="Calibri"/>
              </a:rPr>
              <a:t>moment both signals align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 single weapon in view isn't an alert. A person standing still isn't an alert.</a:t>
            </a:r>
          </a:p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Both together, confirmed over time,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AE9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GUARDIAN — Overview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6539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027" y="1645920"/>
            <a:ext cx="2468880" cy="155448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467" y="178308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Cameras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24231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DBE2EB"/>
                </a:solidFill>
                <a:latin typeface="Calibri"/>
              </a:rPr>
              <a:t>Live video sources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4339" y="2423160"/>
            <a:ext cx="26517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6947" y="1645920"/>
            <a:ext cx="2468880" cy="155448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387" y="178308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Detection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4107" y="24231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DBE2EB"/>
                </a:solidFill>
                <a:latin typeface="Calibri"/>
              </a:rPr>
              <a:t>Finds weapons &amp; people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3259" y="2423160"/>
            <a:ext cx="26517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55867" y="1645920"/>
            <a:ext cx="2468880" cy="155448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178308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Tracking &amp;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Behavior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4231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DBE2EB"/>
                </a:solidFill>
                <a:latin typeface="Calibri"/>
              </a:rPr>
              <a:t>Follows subjects over time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52179" y="2423160"/>
            <a:ext cx="26517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44787" y="1645920"/>
            <a:ext cx="2468880" cy="1554480"/>
          </a:xfrm>
          <a:prstGeom prst="round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6227" y="178308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Alert &amp;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1947" y="242316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DBE2EB"/>
                </a:solidFill>
                <a:latin typeface="Calibri"/>
              </a:rPr>
              <a:t>Surfaces confirmed threats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10332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AAE9F"/>
                </a:solidFill>
              </a:rPr>
              <a:t>▸  </a:t>
            </a:r>
            <a:r>
              <a:rPr sz="1500" b="1">
                <a:solidFill>
                  <a:srgbClr val="0B1F3A"/>
                </a:solidFill>
              </a:rPr>
              <a:t>Stronger people detection:</a:t>
            </a:r>
            <a:r>
              <a:rPr sz="1500">
                <a:solidFill>
                  <a:srgbClr val="1B222C"/>
                </a:solidFill>
              </a:rPr>
              <a:t> a proven, off-the-shelf people-detector is fused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6B7685"/>
                </a:solidFill>
              </a:rPr>
              <a:t>–  </a:t>
            </a:r>
            <a:r>
              <a:rPr sz="1400">
                <a:solidFill>
                  <a:srgbClr val="6B7685"/>
                </a:solidFill>
              </a:rPr>
              <a:t>alongside our custom weapon detector, so fewer people in frame go unnoticed.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AAE9F"/>
                </a:solidFill>
              </a:rPr>
              <a:t>▸  </a:t>
            </a:r>
            <a:r>
              <a:rPr sz="1500" b="1">
                <a:solidFill>
                  <a:srgbClr val="0B1F3A"/>
                </a:solidFill>
              </a:rPr>
              <a:t>Supporting platform:</a:t>
            </a:r>
            <a:r>
              <a:rPr sz="1500">
                <a:solidFill>
                  <a:srgbClr val="1B222C"/>
                </a:solidFill>
              </a:rPr>
              <a:t> secure role-based access, camera management, and a live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6B7685"/>
                </a:solidFill>
              </a:rPr>
              <a:t>–  </a:t>
            </a:r>
            <a:r>
              <a:rPr sz="1400">
                <a:solidFill>
                  <a:srgbClr val="6B7685"/>
                </a:solidFill>
              </a:rPr>
              <a:t>operations dashboard all run alongside the detection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AE9F"/>
                </a:solidFill>
                <a:latin typeface="Calibri"/>
              </a:rPr>
              <a:t>THREAT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a Confirmed Alert Is Triggered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GUARDIAN — Overview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6539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5287" y="2103120"/>
            <a:ext cx="2743200" cy="155448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1007" y="2103120"/>
            <a:ext cx="2651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Weapon</a:t>
            </a:r>
          </a:p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Detected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85919" y="2880360"/>
            <a:ext cx="31089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24247" y="2103120"/>
            <a:ext cx="2743200" cy="155448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9967" y="2103120"/>
            <a:ext cx="2651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4879" y="2880360"/>
            <a:ext cx="31089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33207" y="2103120"/>
            <a:ext cx="2743200" cy="155448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651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Threatening</a:t>
            </a:r>
          </a:p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Behavior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6B7685"/>
                </a:solidFill>
                <a:latin typeface="Calibri"/>
              </a:rPr>
              <a:t>Same person, same moment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663440"/>
            <a:ext cx="3200400" cy="914400"/>
          </a:xfrm>
          <a:prstGeom prst="round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66344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CONFIRMED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7685"/>
                </a:solidFill>
                <a:latin typeface="Calibri"/>
              </a:rPr>
              <a:t>A weapon alone isn't an alert. A tense posture alone isn't an alert — only both together escalate.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AE9F"/>
                </a:solidFill>
                <a:latin typeface="Calibri"/>
              </a:rPr>
              <a:t>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Both Models Were Trained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GUARDIAN — Overview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6539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027" y="1737360"/>
            <a:ext cx="2468880" cy="164592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467" y="187452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Collect &amp;</a:t>
            </a:r>
          </a:p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Unify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2514600"/>
            <a:ext cx="2194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DBE2EB"/>
                </a:solidFill>
                <a:latin typeface="Calibri"/>
              </a:rPr>
              <a:t>Real weapon/behavior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DBE2EB"/>
                </a:solidFill>
                <a:latin typeface="Calibri"/>
              </a:rPr>
              <a:t>footage, one label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4339" y="2560320"/>
            <a:ext cx="26517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6947" y="1737360"/>
            <a:ext cx="2468880" cy="164592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387" y="187452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Simulate CCTV</a:t>
            </a:r>
          </a:p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4107" y="2514600"/>
            <a:ext cx="2194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DBE2EB"/>
                </a:solidFill>
                <a:latin typeface="Calibri"/>
              </a:rPr>
              <a:t>Blur, noise, compression,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DBE2EB"/>
                </a:solidFill>
                <a:latin typeface="Calibri"/>
              </a:rPr>
              <a:t>low angles added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3259" y="2560320"/>
            <a:ext cx="26517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55867" y="1737360"/>
            <a:ext cx="2468880" cy="164592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187452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514600"/>
            <a:ext cx="2194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DBE2EB"/>
                </a:solidFill>
                <a:latin typeface="Calibri"/>
              </a:rPr>
              <a:t>Detector learns weapons/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DBE2EB"/>
                </a:solidFill>
                <a:latin typeface="Calibri"/>
              </a:rPr>
              <a:t>people; classifier learns behavior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52179" y="2560320"/>
            <a:ext cx="26517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44787" y="1737360"/>
            <a:ext cx="2468880" cy="1645920"/>
          </a:xfrm>
          <a:prstGeom prst="round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6227" y="187452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1947" y="2514600"/>
            <a:ext cx="2194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DBE2EB"/>
                </a:solidFill>
                <a:latin typeface="Calibri"/>
              </a:rPr>
              <a:t>Both models run live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DBE2EB"/>
                </a:solidFill>
                <a:latin typeface="Calibri"/>
              </a:rPr>
              <a:t>in the pipeline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3192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AAE9F"/>
                </a:solidFill>
              </a:rPr>
              <a:t>▸  </a:t>
            </a:r>
            <a:r>
              <a:rPr sz="1450" b="1">
                <a:solidFill>
                  <a:srgbClr val="0B1F3A"/>
                </a:solidFill>
              </a:rPr>
              <a:t>Both models are fully trained:</a:t>
            </a:r>
            <a:r>
              <a:rPr sz="1450">
                <a:solidFill>
                  <a:srgbClr val="1B222C"/>
                </a:solidFill>
              </a:rPr>
              <a:t> the weapon/people detector and the behavior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6B7685"/>
                </a:solidFill>
              </a:rPr>
              <a:t>–  </a:t>
            </a:r>
            <a:r>
              <a:rPr sz="1350">
                <a:solidFill>
                  <a:srgbClr val="6B7685"/>
                </a:solidFill>
              </a:rPr>
              <a:t>classifier are both trained end-to-end on real footage — results on the next two slides.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AAE9F"/>
                </a:solidFill>
              </a:rPr>
              <a:t>▸  </a:t>
            </a:r>
            <a:r>
              <a:rPr sz="1450" b="1">
                <a:solidFill>
                  <a:srgbClr val="0B1F3A"/>
                </a:solidFill>
              </a:rPr>
              <a:t>Simple, deployable design:</a:t>
            </a:r>
            <a:r>
              <a:rPr sz="1450">
                <a:solidFill>
                  <a:srgbClr val="1B222C"/>
                </a:solidFill>
              </a:rPr>
              <a:t> the behavior classifier runs on a compact CNN — simpler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6B7685"/>
                </a:solidFill>
              </a:rPr>
              <a:t>–  </a:t>
            </a:r>
            <a:r>
              <a:rPr sz="1350">
                <a:solidFill>
                  <a:srgbClr val="6B7685"/>
                </a:solidFill>
              </a:rPr>
              <a:t>and faster to train and validate than a recurrent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AE9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Weapon &amp; Person Detector —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GUARDIAN — Overview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6539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647" y="1554480"/>
            <a:ext cx="310896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6647" y="1554480"/>
            <a:ext cx="3108960" cy="109728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647" y="1874519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4335C"/>
                </a:solidFill>
                <a:latin typeface="Calibri"/>
              </a:rPr>
              <a:t>~95%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3807" y="27432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Detection Accuracy (mAP@50)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3807" y="320040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6B7685"/>
                </a:solidFill>
                <a:latin typeface="Calibri"/>
              </a:rPr>
              <a:t>Across Gun / Knife / Suspect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1367" y="1554480"/>
            <a:ext cx="310896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1367" y="1554480"/>
            <a:ext cx="3108960" cy="109728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367" y="1874519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4335C"/>
                </a:solidFill>
                <a:latin typeface="Calibri"/>
              </a:rPr>
              <a:t>~94%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27432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8527" y="320040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6B7685"/>
                </a:solidFill>
                <a:latin typeface="Calibri"/>
              </a:rPr>
              <a:t>Of flagged detections, correct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6087" y="1554480"/>
            <a:ext cx="3108960" cy="22860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6087" y="1554480"/>
            <a:ext cx="3108960" cy="109728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6087" y="1874519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4335C"/>
                </a:solidFill>
                <a:latin typeface="Calibri"/>
              </a:rPr>
              <a:t>~91%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247" y="27432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3247" y="320040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6B7685"/>
                </a:solidFill>
                <a:latin typeface="Calibri"/>
              </a:rPr>
              <a:t>Of real targets, caught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97680"/>
            <a:ext cx="9784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>
                <a:solidFill>
                  <a:srgbClr val="1AAE9F"/>
                </a:solidFill>
              </a:rPr>
              <a:t>▸  </a:t>
            </a:r>
            <a:r>
              <a:rPr sz="1400">
                <a:solidFill>
                  <a:srgbClr val="1B222C"/>
                </a:solidFill>
              </a:rPr>
              <a:t>Trained on 11,996 unified images spanning gun, knife, and person detection, with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6B7685"/>
                </a:solidFill>
              </a:rPr>
              <a:t>–  </a:t>
            </a:r>
            <a:r>
              <a:rPr sz="1300">
                <a:solidFill>
                  <a:srgbClr val="6B7685"/>
                </a:solidFill>
              </a:rPr>
              <a:t>CCTV-realistic augmentation (motion blur, low-light noise, compression artifacts).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AE9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Behavior Classifier —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GUARDIAN — Overview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6539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647" y="1417320"/>
            <a:ext cx="3108960" cy="2011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6647" y="1417320"/>
            <a:ext cx="3108960" cy="109728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647" y="16916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14335C"/>
                </a:solidFill>
                <a:latin typeface="Calibri"/>
              </a:rPr>
              <a:t>~74%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3807" y="24231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Overall Test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3807" y="283464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5"/>
                </a:solidFill>
                <a:latin typeface="Calibri"/>
              </a:rPr>
              <a:t>Across Normal / Shooting / Violence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1367" y="1417320"/>
            <a:ext cx="3108960" cy="2011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1367" y="1417320"/>
            <a:ext cx="3108960" cy="109728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367" y="16916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14335C"/>
                </a:solidFill>
                <a:latin typeface="Calibri"/>
              </a:rPr>
              <a:t>29K+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24231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Training 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8527" y="283464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5"/>
                </a:solidFill>
                <a:latin typeface="Calibri"/>
              </a:rPr>
              <a:t>Built from real surveillance footage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6087" y="1417320"/>
            <a:ext cx="3108960" cy="2011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6087" y="1417320"/>
            <a:ext cx="3108960" cy="109728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6087" y="16916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14335C"/>
                </a:solidFill>
                <a:latin typeface="Calibri"/>
              </a:rPr>
              <a:t>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247" y="24231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Violence 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3247" y="283464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5"/>
                </a:solidFill>
                <a:latin typeface="Calibri"/>
              </a:rPr>
              <a:t>Strongest-performing class</a:t>
            </a:r>
          </a:p>
        </p:txBody>
      </p:sp>
      <p:pic>
        <p:nvPicPr>
          <p:cNvPr id="24" name="Picture 2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429000"/>
            <a:ext cx="3171475" cy="30175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365760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AAE9F"/>
                </a:solidFill>
              </a:rPr>
              <a:t>▸  </a:t>
            </a:r>
            <a:r>
              <a:rPr sz="1250">
                <a:solidFill>
                  <a:srgbClr val="1B222C"/>
                </a:solidFill>
              </a:rPr>
              <a:t>Trained end-to-end on 29,000+ sequences built from real surveillance video.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AAE9F"/>
                </a:solidFill>
              </a:rPr>
              <a:t>▸  </a:t>
            </a:r>
            <a:r>
              <a:rPr sz="1250" b="1">
                <a:solidFill>
                  <a:srgbClr val="0B1F3A"/>
                </a:solidFill>
              </a:rPr>
              <a:t>Known weak point:</a:t>
            </a:r>
            <a:r>
              <a:rPr sz="1250">
                <a:solidFill>
                  <a:srgbClr val="1B222C"/>
                </a:solidFill>
              </a:rPr>
              <a:t> Shooting is often confused with Violence (see matrix) —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6B7685"/>
                </a:solidFill>
              </a:rPr>
              <a:t>–  </a:t>
            </a:r>
            <a:r>
              <a:rPr sz="1150">
                <a:solidFill>
                  <a:srgbClr val="6B7685"/>
                </a:solidFill>
              </a:rPr>
              <a:t>the next data/tuning priority.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AE9F"/>
                </a:solidFill>
                <a:latin typeface="Calibri"/>
              </a:rPr>
              <a:t>LIVE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Operating Metrics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GUARDIAN — Overview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6539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312" y="1234440"/>
            <a:ext cx="43333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Current — CPU</a:t>
            </a:r>
          </a:p>
        </p:txBody>
      </p:sp>
      <p:pic>
        <p:nvPicPr>
          <p:cNvPr id="10" name="Picture 9" descr="curren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312" y="1600200"/>
            <a:ext cx="4333324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2956" y="1234440"/>
            <a:ext cx="427342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AE9F"/>
                </a:solidFill>
                <a:latin typeface="Calibri"/>
              </a:rPr>
              <a:t>Expected — GPU</a:t>
            </a:r>
          </a:p>
        </p:txBody>
      </p:sp>
      <p:pic>
        <p:nvPicPr>
          <p:cNvPr id="12" name="Picture 11" descr="expected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956" y="1600200"/>
            <a:ext cx="4273427" cy="4297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685"/>
                </a:solidFill>
                <a:latin typeface="Calibri"/>
              </a:rPr>
              <a:t>Pipeline latency: 617.6 ms today (CPU) vs. 38.5 ms on the target GPU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AE9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Where We Go From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GUARDIAN — Overview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6539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647" y="2011680"/>
            <a:ext cx="3108960" cy="210312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8087" y="2148840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Formal</a:t>
            </a:r>
          </a:p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benchmarking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3807" y="2788920"/>
            <a:ext cx="2834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DBE2EB"/>
                </a:solidFill>
                <a:latin typeface="Calibri"/>
              </a:rPr>
              <a:t>Validate performance on a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DBE2EB"/>
                </a:solidFill>
                <a:latin typeface="Calibri"/>
              </a:rPr>
              <a:t>held-out test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03039" y="3063240"/>
            <a:ext cx="31089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41367" y="2011680"/>
            <a:ext cx="3108960" cy="2103120"/>
          </a:xfrm>
          <a:prstGeom prst="roundRect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2807" y="2148840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Improve Shooting</a:t>
            </a:r>
          </a:p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527" y="2788920"/>
            <a:ext cx="2834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DBE2EB"/>
                </a:solidFill>
                <a:latin typeface="Calibri"/>
              </a:rPr>
              <a:t>More labeled examples for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DBE2EB"/>
                </a:solidFill>
                <a:latin typeface="Calibri"/>
              </a:rPr>
              <a:t>the classifier's weak point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77759" y="3063240"/>
            <a:ext cx="310896" cy="0"/>
          </a:xfrm>
          <a:prstGeom prst="line">
            <a:avLst/>
          </a:prstGeom>
          <a:ln w="28575">
            <a:solidFill>
              <a:srgbClr val="6B76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16087" y="2011680"/>
            <a:ext cx="3108960" cy="2103120"/>
          </a:xfrm>
          <a:prstGeom prst="round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7527" y="2148840"/>
            <a:ext cx="2926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Pilot on live</a:t>
            </a:r>
          </a:p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cameras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247" y="2788920"/>
            <a:ext cx="2834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DBE2EB"/>
                </a:solidFill>
                <a:latin typeface="Calibri"/>
              </a:rPr>
              <a:t>Validate in a real site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DBE2EB"/>
                </a:solidFill>
                <a:latin typeface="Calibri"/>
              </a:rPr>
              <a:t>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Both models are trained and running end-to-end today.</a:t>
            </a:r>
          </a:p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The next milestone is a live pilot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063240"/>
            <a:ext cx="1463040" cy="54864"/>
          </a:xfrm>
          <a:prstGeom prst="rect">
            <a:avLst/>
          </a:prstGeom>
          <a:solidFill>
            <a:srgbClr val="1AA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9C4D3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GUARDIAN — Overview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6539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4D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